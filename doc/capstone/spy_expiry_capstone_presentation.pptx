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IS</c:v>
                  </c:pt>
                  <c:pt idx="1">
                    <c:v>OOS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0.5852</c:v>
                </c:pt>
                <c:pt idx="1">
                  <c:v>0.8525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Monte Carlo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Observed</c:v>
                  </c:pt>
                  <c:pt idx="1">
                    <c:v>Null mean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0.585</c:v>
                </c:pt>
                <c:pt idx="1">
                  <c:v>0.586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9"/>
          <c:min val="0.58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VIX</c:v>
                  </c:pt>
                  <c:pt idx="1">
                    <c:v>Medium VIX</c:v>
                  </c:pt>
                  <c:pt idx="2">
                    <c:v>High VIX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52.4</c:v>
                </c:pt>
                <c:pt idx="1">
                  <c:v>48.5</c:v>
                </c:pt>
                <c:pt idx="2">
                  <c:v>72.7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OOS composite</c:v>
                </c:pt>
              </c:strCache>
            </c:strRef>
          </c:tx>
          <c:spPr>
            <a:solidFill>
              <a:srgbClr val="1F77B4"/>
            </a:solidFill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0.735</c:v>
                </c:pt>
                <c:pt idx="1">
                  <c:v>0.767</c:v>
                </c:pt>
                <c:pt idx="2">
                  <c:v>1</c:v>
                </c:pt>
                <c:pt idx="3">
                  <c:v>0.781</c:v>
                </c:pt>
                <c:pt idx="4">
                  <c:v>0.566</c:v>
                </c:pt>
                <c:pt idx="5">
                  <c:v>0.1</c:v>
                </c:pt>
                <c:pt idx="6">
                  <c:v>0.834</c:v>
                </c:pt>
                <c:pt idx="7">
                  <c:v>0.893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top-rank signal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VIX_Level</c:v>
                  </c:pt>
                  <c:pt idx="1">
                    <c:v>RSI</c:v>
                  </c:pt>
                  <c:pt idx="2">
                    <c:v>Consecutive_Count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</c:v>
                </c:pt>
                <c:pt idx="1">
                  <c:v>4.7</c:v>
                </c:pt>
                <c:pt idx="2">
                  <c:v>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94360"/>
            <a:ext cx="73152" cy="5394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13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A6A6"/>
                </a:solidFill>
              </a:rPr>
              <a:t>DAMO-699-3 MDA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" y="120700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SPY Options Expiry Day Pattern Analysis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239572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7F0"/>
                </a:solidFill>
              </a:rPr>
              <a:t>Can RSI oversold plus consecutive bearish candles predict S&amp;P 500 stock returns on monthly options expiry days?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3712464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831336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Monte Carlo p-value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42416" y="402336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0.894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42416" y="4407408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H1 not supported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54680" y="3712464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3831336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High-VIX win rate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0984" y="402336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72.7%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00984" y="4407408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H2 supported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13248" y="3712464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3831336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Walk-forward mean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59552" y="402336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</a:rPr>
              <a:t>0.734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59552" y="4407408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8/8 windows positive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96112" y="60899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D6"/>
                </a:solidFill>
              </a:rPr>
              <a:t>University of Niagara Falls Canada | Spring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96112" y="63093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D6"/>
                </a:solidFill>
              </a:rPr>
              <a:t>Diego Bicieg | Icaro Dos Santos Rabelo | Sai Bhaskar Chundru | Osmond Xin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The decision problem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 bounded test of an event-driven mean-reversion rule, not a broad trading system.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074920" cy="1051560"/>
          </a:xfrm>
          <a:prstGeom prst="rect">
            <a:avLst/>
          </a:prstGeom>
          <a:solidFill>
            <a:srgbClr val="F5F7FA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80744"/>
            <a:ext cx="47457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Monthly SPY expiry can create stock-level hedging flows. The project asks whether a transparent technical signal identifies stocks likely to mean-revert around that event.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852928"/>
            <a:ext cx="2331720" cy="1207008"/>
          </a:xfrm>
          <a:prstGeom prst="rect">
            <a:avLst/>
          </a:prstGeom>
          <a:solidFill>
            <a:srgbClr val="EAF4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999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</a:rPr>
              <a:t>Event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" y="33375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Monthly SPY options expiry, third Friday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18104" y="3273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&gt;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2852928"/>
            <a:ext cx="2331720" cy="1207008"/>
          </a:xfrm>
          <a:prstGeom prst="rect">
            <a:avLst/>
          </a:prstGeom>
          <a:solidFill>
            <a:srgbClr val="EAF9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2999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</a:rPr>
              <a:t>Signal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21024" y="33375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RSI &lt; 22 AND at least 3 consecutive red candles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07024" y="3273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&gt;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2852928"/>
            <a:ext cx="2331720" cy="1207008"/>
          </a:xfrm>
          <a:prstGeom prst="rect">
            <a:avLst/>
          </a:prstGeom>
          <a:solidFill>
            <a:srgbClr val="FFF6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2999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</a:rPr>
              <a:t>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9944" y="33375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Enter top 3 qualifying stocks at next open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95944" y="3273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&gt;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52560" y="2852928"/>
            <a:ext cx="2331720" cy="1207008"/>
          </a:xfrm>
          <a:prstGeom prst="rect">
            <a:avLst/>
          </a:prstGeom>
          <a:solidFill>
            <a:srgbClr val="F4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98864" y="2999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A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98864" y="33375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T+6 hold, 0.2% round-trip commission, 15-position cap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4892040"/>
            <a:ext cx="10515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20" dirty="0">
                <a:solidFill>
                  <a:srgbClr val="17202A"/>
                </a:solidFill>
              </a:rPr>
              <a:t>H1: signal edge is statistically stronger than random assignment</a:t>
            </a:r>
            <a:endParaRPr lang="en-US" sz="1120" dirty="0"/>
          </a:p>
          <a:p>
            <a:r>
              <a:rPr lang="en-US" sz="1120" dirty="0">
                <a:solidFill>
                  <a:srgbClr val="17202A"/>
                </a:solidFill>
              </a:rPr>
              <a:t>H2: high-VIX regimes improve signal win rate</a:t>
            </a:r>
            <a:endParaRPr lang="en-US" sz="1120" dirty="0"/>
          </a:p>
          <a:p>
            <a:r>
              <a:rPr lang="en-US" sz="1120" dirty="0">
                <a:solidFill>
                  <a:srgbClr val="17202A"/>
                </a:solidFill>
              </a:rPr>
              <a:t>H3: ML models independently rank RSI / Consecutive_Count as dominant predictors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Data foundation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Daily OHLCV plus event and macro context, joined only at signal date.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10972800" cy="3931920"/>
        </p:xfrm>
        <a:graphic>
          <a:graphicData uri="http://schemas.openxmlformats.org/drawingml/2006/table">
            <a:tbl>
              <a:tblPr/>
              <a:tblGrid>
                <a:gridCol w="1920240"/>
                <a:gridCol w="2560320"/>
                <a:gridCol w="2194560"/>
                <a:gridCol w="429768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Dataset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Source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Scale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Use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OHLCV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Stooq + Alpaca update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~510 current S&amp;P 500 constituents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2010-2026 cache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VIX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FRED VIXCLS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9,468 rows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Regime: Low / Medium / High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FOMC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Federal Reserve calendar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97 meetings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+/-5 day proximity flag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Earnings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Nasdaq calendar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21,326 events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+/-3 day ticker flag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Survivorship proxy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Cached data start filter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453 tickers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</a:rPr>
                        <a:t>cache/sp500_constituents_2015.csv</a:t>
                      </a:r>
                      <a:endParaRPr lang="en-US" sz="85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129844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Dataset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633472" y="129844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Source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93792" y="1298448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Scale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388352" y="1298448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77240" y="5532120"/>
            <a:ext cx="10561320" cy="384048"/>
          </a:xfrm>
          <a:prstGeom prst="rect">
            <a:avLst/>
          </a:prstGeom>
          <a:solidFill>
            <a:srgbClr val="F7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5678424"/>
            <a:ext cx="102321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Data quality gate: validation checks required columns, date gaps, NaNs, OHLC logic, and price/volume anomalies before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End-to-end analytical pipeline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Five layers keep data acquisition, feature engineering, modelling, validation, and reporting separate.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965960" cy="2834640"/>
          </a:xfrm>
          <a:prstGeom prst="rect">
            <a:avLst/>
          </a:prstGeom>
          <a:solidFill>
            <a:srgbClr val="F7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190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Layer 1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" y="2633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CacheManager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DataLoader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ExpiryCalendar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9464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34640" y="1508760"/>
            <a:ext cx="1965960" cy="2834640"/>
          </a:xfrm>
          <a:prstGeom prst="rect">
            <a:avLst/>
          </a:prstGeom>
          <a:solidFill>
            <a:srgbClr val="F5FFFD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7190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Layer 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97180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80944" y="2633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RSI, MACD, SMA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Consecutive_Count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VIX/FOMC/Earnings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01184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6360" y="1508760"/>
            <a:ext cx="1965960" cy="2834640"/>
          </a:xfrm>
          <a:prstGeom prst="rect">
            <a:avLst/>
          </a:prstGeom>
          <a:solidFill>
            <a:srgbClr val="F7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7190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Layer 3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30352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Models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12664" y="2633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RSIReversalStrategy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Rule registry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32904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1508760"/>
            <a:ext cx="1965960" cy="2834640"/>
          </a:xfrm>
          <a:prstGeom prst="rect">
            <a:avLst/>
          </a:prstGeom>
          <a:solidFill>
            <a:srgbClr val="F5FFFD"/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7190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Layer 4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763524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44384" y="2633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Portfolio simulator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Monte Carlo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Walk-forward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64624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829800" y="1508760"/>
            <a:ext cx="1965960" cy="2834640"/>
          </a:xfrm>
          <a:prstGeom prst="rect">
            <a:avLst/>
          </a:prstGeom>
          <a:solidFill>
            <a:srgbClr val="F7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0" y="17190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Layer 5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996696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76104" y="2633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Main notebook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ML notebook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Report + deck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solidFill>
            <a:srgbClr val="EEF7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312664"/>
            <a:ext cx="9912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Design principle: every result in the final report traces to a callable module or executed notebook cell.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Pre-registered rule and portfolio constraints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tested rule is intentionally simple, interpretable, and operationally executable.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4800600" cy="3154680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Signal rule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048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7B4"/>
                </a:solidFill>
              </a:rPr>
              <a:t>RSI(14) &lt; 22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54680" y="21396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20482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Red candles &gt;= 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035808"/>
            <a:ext cx="41605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17202A"/>
                </a:solidFill>
              </a:rPr>
              <a:t>Decision uses signal-date information only</a:t>
            </a:r>
            <a:endParaRPr lang="en-US" sz="1050" dirty="0"/>
          </a:p>
          <a:p>
            <a:r>
              <a:rPr lang="en-US" sz="1050" dirty="0">
                <a:solidFill>
                  <a:srgbClr val="17202A"/>
                </a:solidFill>
              </a:rPr>
              <a:t>Signals ranked by lowest RSI</a:t>
            </a:r>
            <a:endParaRPr lang="en-US" sz="1050" dirty="0"/>
          </a:p>
          <a:p>
            <a:r>
              <a:rPr lang="en-US" sz="1050" dirty="0">
                <a:solidFill>
                  <a:srgbClr val="17202A"/>
                </a:solidFill>
              </a:rPr>
              <a:t>No shorting; neutral otherwise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261872"/>
            <a:ext cx="2240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1380744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Hold days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35624" y="1572768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35624" y="1956816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frozen v4.1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595360" y="1261872"/>
            <a:ext cx="2240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41664" y="1380744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Commission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41664" y="1572768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0.2%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41664" y="1956816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frozen v4.1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89320" y="2587752"/>
            <a:ext cx="2240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2706624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Entries / expiry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35624" y="2898648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3 max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35624" y="3282696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frozen v4.1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595360" y="2587752"/>
            <a:ext cx="2240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41664" y="2706624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Concurrent cap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41664" y="2898648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15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41664" y="3282696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frozen v4.1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16752" y="4334256"/>
            <a:ext cx="4937760" cy="713232"/>
          </a:xfrm>
          <a:prstGeom prst="rect">
            <a:avLst/>
          </a:prstGeom>
          <a:solidFill>
            <a:srgbClr val="F5FFFD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4480560"/>
            <a:ext cx="46085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Why this shape? AND logic raises precision; top-3 selection preserves selectivity; T+1 entry avoids look-ahead bias.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Portfolio simulator mechanics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backtest translates signals into trades with realistic timing and costs.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493776" cy="49377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5506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176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</a:rPr>
              <a:t>T-1 close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4495E"/>
                </a:solidFill>
              </a:rPr>
              <a:t>Compute features and signal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344168" y="1755648"/>
            <a:ext cx="2176272" cy="0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1508760"/>
            <a:ext cx="493776" cy="49377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65506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2176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</a:rPr>
              <a:t>T open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4495E"/>
                </a:solidFill>
              </a:rPr>
              <a:t>Enter at expiry-day open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133088" y="1755648"/>
            <a:ext cx="2176272" cy="0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1508760"/>
            <a:ext cx="493776" cy="49377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65506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176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</a:rPr>
              <a:t>T+1 to T+6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4495E"/>
                </a:solidFill>
              </a:rPr>
              <a:t>Hold or trigger optional exit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922008" y="1755648"/>
            <a:ext cx="2176272" cy="0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0" y="1508760"/>
            <a:ext cx="493776" cy="493776"/>
          </a:xfrm>
          <a:prstGeom prst="ellipse">
            <a:avLst/>
          </a:prstGeom>
          <a:solidFill>
            <a:srgbClr val="2EAD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165506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52560" y="2176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</a:rPr>
              <a:t>Exit close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4495E"/>
                </a:solidFill>
              </a:rPr>
              <a:t>Calculate gross and net return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7240" y="397764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4096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Full-period trades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23544" y="4288536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</a:rPr>
              <a:t>203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3544" y="467258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2015-01-16 to 2026-03-20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29000" y="397764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75304" y="4096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Required columns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75304" y="4288536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11/11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575304" y="467258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trades_df contract satisfied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80760" y="397764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4096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VIX regime NaN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27064" y="4288536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27064" y="467258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all signal dates classified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732520" y="397764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78824" y="4096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Look-ahead check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878824" y="4288536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Pass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878824" y="467258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signal_date &lt; entry_date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H1 result: positive-looking performance is not statistically distinct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observed composite sits inside the Monte Carlo null distribution.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17043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28930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IS composite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" y="14813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</a:rPr>
              <a:t>0.585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32104" y="186537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182 trades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80360" y="117043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28930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OOS composite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26664" y="14813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0.853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26664" y="186537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21 trades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74920" y="117043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28930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IS/OOS gap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21224" y="14813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0.267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21224" y="186537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fails &lt; 0.05 criterion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269480" y="117043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128930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MC p-value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15784" y="14813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0.894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15784" y="186537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H1 not supported</a:t>
            </a:r>
            <a:endParaRPr lang="en-US" sz="7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822960" y="2880360"/>
          <a:ext cx="4389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6035040" y="2880360"/>
          <a:ext cx="4389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841248" y="5596128"/>
            <a:ext cx="9692640" cy="384048"/>
          </a:xfrm>
          <a:prstGeom prst="rect">
            <a:avLst/>
          </a:prstGeom>
          <a:solidFill>
            <a:srgbClr val="FFF5F5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05840" y="5742432"/>
            <a:ext cx="93634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Interpretation: the rule can produce attractive episodes, but its full IS composite is indistinguishable from random reassignment of the same return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H2 result: VIX regime matters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High-volatility environments show materially stronger win rates.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08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325880"/>
          <a:ext cx="64008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13716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35824" y="1490472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High vs Low z-stat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35824" y="168249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</a:rPr>
              <a:t>1.663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35824" y="206654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two-proportion z-test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589520" y="269748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35824" y="2816352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One-sided p-value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735824" y="300837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0.048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735824" y="339242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H2 supported at alpha=0.05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589520" y="4160520"/>
            <a:ext cx="3337560" cy="932688"/>
          </a:xfrm>
          <a:prstGeom prst="rect">
            <a:avLst/>
          </a:prstGeom>
          <a:solidFill>
            <a:srgbClr val="F5FFFD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54112" y="4306824"/>
            <a:ext cx="30083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Practical reading: the same oversold signal performs better when market stress is elevated, consistent with mean-reversion concentration in high-volatility regimes.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Robustness validation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Walk-forward stability is strong, but Monte Carlo significance is not.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123444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09560" y="1298448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55864" y="141732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Windows positive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55864" y="160934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8/8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55864" y="199339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temporal coverage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909560" y="2542032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55864" y="266090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Mean OOS composite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55864" y="28529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</a:rPr>
              <a:t>0.734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055864" y="3236976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2018-2025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909560" y="3785616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55864" y="390448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Weakest window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055864" y="409651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2023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055864" y="448056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composite 0.100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68680" y="5715000"/>
            <a:ext cx="9692640" cy="347472"/>
          </a:xfrm>
          <a:prstGeom prst="rect">
            <a:avLst/>
          </a:prstGeom>
          <a:solidFill>
            <a:srgbClr val="F7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" y="5861304"/>
            <a:ext cx="9363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Sensitivity check: all 12 parameter perturbations passed the &lt;15% degradation threshold.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H3 result: ML does not validate the hand-crafted drivers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RSI appears in one model top-3; Consecutive_Count appears in none.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61872"/>
          <a:ext cx="5760720" cy="278892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1463040"/>
              </a:tblGrid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LR rank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RF rank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XGBoost SHAP rank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RSI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Consecutive_Count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&gt;10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VIX_Level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MACD_Hist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&gt;10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&gt;10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MA_Distance_20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2A"/>
                          </a:solidFill>
                        </a:rPr>
                        <a:t>&gt;10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1261872"/>
            <a:ext cx="576072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38074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907792" y="138074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LR rank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05072" y="138074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RF rank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02352" y="1380744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XGBoost SHAP rank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059168" y="141732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05472" y="153619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RSI top-3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205472" y="1728216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1/3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205472" y="211226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XGBoost only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9144000" y="141732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90304" y="153619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Consecutive_Count top-3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290304" y="1728216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0/3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290304" y="211226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not dominant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059168" y="2971800"/>
            <a:ext cx="4407408" cy="1234440"/>
          </a:xfrm>
          <a:prstGeom prst="rect">
            <a:avLst/>
          </a:prstGeom>
          <a:solidFill>
            <a:srgbClr val="FFF5F5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23760" y="3118104"/>
            <a:ext cx="407822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H3 verdict: not supported. ML models point toward VIX_Level, MACD_Hist, and MA_Distance_20 as stronger predictors than the consecutive-candle component.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086600" y="4572000"/>
          <a:ext cx="41148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Limitations are explicit, not hidden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final report reports negative and inconvenient findings directly.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5074920" cy="1444752"/>
          </a:xfrm>
          <a:prstGeom prst="rect">
            <a:avLst/>
          </a:prstGeom>
          <a:solidFill>
            <a:srgbClr val="F7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356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Survivorship bias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8105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95E"/>
                </a:solidFill>
              </a:rPr>
              <a:t>2015 proxy universe composite was higher (+0.044), so current-universe bias does not inflate this strategy.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074920" cy="1444752"/>
          </a:xfrm>
          <a:prstGeom prst="rect">
            <a:avLst/>
          </a:prstGeom>
          <a:solidFill>
            <a:srgbClr val="F5FFFD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4356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OOS sample length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4808" y="18105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95E"/>
                </a:solidFill>
              </a:rPr>
              <a:t>Only 21 OOS trades through 2026-03-31; strong OOS score should not be over-read.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5074920" cy="1444752"/>
          </a:xfrm>
          <a:prstGeom prst="rect">
            <a:avLst/>
          </a:prstGeom>
          <a:solidFill>
            <a:srgbClr val="F7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Monte Carlo null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38679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95E"/>
                </a:solidFill>
              </a:rPr>
              <a:t>p = 0.894 means H1 is not statistically supported despite positive walk-forward windows.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074920" cy="1444752"/>
          </a:xfrm>
          <a:prstGeom prst="rect">
            <a:avLst/>
          </a:prstGeom>
          <a:solidFill>
            <a:srgbClr val="F5FFFD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Take-profit calibration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4808" y="38679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95E"/>
                </a:solidFill>
              </a:rPr>
              <a:t>Exit grid search was recalibrated with RSIReversalStrategy entries; original EMA inconsistency is documented.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68680" y="5687568"/>
            <a:ext cx="10241280" cy="384048"/>
          </a:xfrm>
          <a:prstGeom prst="rect">
            <a:avLst/>
          </a:prstGeom>
          <a:solidFill>
            <a:srgbClr val="EEF7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833872"/>
            <a:ext cx="99120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Bottom line: the project is analytically useful because it rejects over-claiming and separates regime effect from broad strategy significance.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Practical implications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 trader should use the signal as a regime-aware research filter, not as a standalone edge.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337560" cy="4206240"/>
          </a:xfrm>
          <a:prstGeom prst="rect">
            <a:avLst/>
          </a:prstGeom>
          <a:solidFill>
            <a:srgbClr val="F5FFFD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AD68"/>
                </a:solidFill>
              </a:rPr>
              <a:t>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6974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02A"/>
                </a:solidFill>
              </a:rPr>
              <a:t>High-VIX filter for expiry-week watchlists</a:t>
            </a:r>
            <a:endParaRPr lang="en-US" sz="1100" dirty="0"/>
          </a:p>
          <a:p>
            <a:r>
              <a:rPr lang="en-US" sz="1100" dirty="0">
                <a:solidFill>
                  <a:srgbClr val="17202A"/>
                </a:solidFill>
              </a:rPr>
              <a:t>Portfolio sizing discipline: top 3, capped exposure</a:t>
            </a:r>
            <a:endParaRPr lang="en-US" sz="1100" dirty="0"/>
          </a:p>
          <a:p>
            <a:r>
              <a:rPr lang="en-US" sz="1100" dirty="0">
                <a:solidFill>
                  <a:srgbClr val="17202A"/>
                </a:solidFill>
              </a:rPr>
              <a:t>Secondary input for oversold recovery candidates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337560" cy="4206240"/>
          </a:xfrm>
          <a:prstGeom prst="rect">
            <a:avLst/>
          </a:prstGeom>
          <a:solidFill>
            <a:srgbClr val="FFF8ED"/>
          </a:solidFill>
          <a:ln w="1778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Avoid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26974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02A"/>
                </a:solidFill>
              </a:rPr>
              <a:t>Treating RSI + candle count as statistically proven standalone alpha</a:t>
            </a:r>
            <a:endParaRPr lang="en-US" sz="1100" dirty="0"/>
          </a:p>
          <a:p>
            <a:r>
              <a:rPr lang="en-US" sz="1100" dirty="0">
                <a:solidFill>
                  <a:srgbClr val="17202A"/>
                </a:solidFill>
              </a:rPr>
              <a:t>Optimizing thresholds after seeing OOS results</a:t>
            </a:r>
            <a:endParaRPr lang="en-US" sz="1100" dirty="0"/>
          </a:p>
          <a:p>
            <a:r>
              <a:rPr lang="en-US" sz="1100" dirty="0">
                <a:solidFill>
                  <a:srgbClr val="17202A"/>
                </a:solidFill>
              </a:rPr>
              <a:t>Ignoring low-VIX trend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337560" cy="4206240"/>
          </a:xfrm>
          <a:prstGeom prst="rect">
            <a:avLst/>
          </a:prstGeom>
          <a:solidFill>
            <a:srgbClr val="F7FAFC"/>
          </a:solidFill>
          <a:ln w="1778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7B4"/>
                </a:solidFill>
              </a:rPr>
              <a:t>Next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148840"/>
            <a:ext cx="26974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02A"/>
                </a:solidFill>
              </a:rPr>
              <a:t>Point-in-time constituent data</a:t>
            </a:r>
            <a:endParaRPr lang="en-US" sz="1100" dirty="0"/>
          </a:p>
          <a:p>
            <a:r>
              <a:rPr lang="en-US" sz="1100" dirty="0">
                <a:solidFill>
                  <a:srgbClr val="17202A"/>
                </a:solidFill>
              </a:rPr>
              <a:t>Transaction-cost stress testing</a:t>
            </a:r>
            <a:endParaRPr lang="en-US" sz="1100" dirty="0"/>
          </a:p>
          <a:p>
            <a:r>
              <a:rPr lang="en-US" sz="1100" dirty="0">
                <a:solidFill>
                  <a:srgbClr val="17202A"/>
                </a:solidFill>
              </a:rPr>
              <a:t>Alternative ML-driven signal ranking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</a:rPr>
              <a:t>Final verdict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project is submission-ready, but the research answer is deliberately nuanced.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653796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DAMO-699-3 Capstone | SPY Expiry Signal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8428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261872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380744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23544" y="15727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Not supported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23544" y="1956816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 = 0.894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566160" y="1261872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380744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12464" y="15727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Supported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12464" y="1956816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 = 0.048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355080" y="1261872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380744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01384" y="15727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Not supported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01384" y="1956816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RSI 1/3, CC 0/3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144000" y="1261872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1380744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Submission checks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290304" y="15727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AD68"/>
                </a:solidFill>
              </a:rPr>
              <a:t>Pass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90304" y="1956816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69 tests, 4 subtests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" y="3154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Main conclusion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" y="3611880"/>
            <a:ext cx="6583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2A"/>
                </a:solidFill>
              </a:rPr>
              <a:t>The RSI oversold + consecutive bearish candle rule does not establish a statistically significant broad expiry-day edge. However, the VIX moderation result is meaningful: high-volatility environments appear to be where the rule has practical value.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1248" y="5138928"/>
            <a:ext cx="9875520" cy="457200"/>
          </a:xfrm>
          <a:prstGeom prst="rect">
            <a:avLst/>
          </a:prstGeom>
          <a:solidFill>
            <a:srgbClr val="EEF7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285232"/>
            <a:ext cx="95463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</a:rPr>
              <a:t>Deliverables: final report, executed notebooks, robust validation modules, survivorship-bias proxy artifact, and editable PPTX deck.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University of Niagara Falls Canada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SPY Options Expiry Day Pattern Analysis</dc:title>
  <dc:subject>SPY Expiry Signal Pipeline Capstone Presentation</dc:subject>
  <dc:creator>DAMO-699-3 Capstone Team</dc:creator>
  <cp:lastModifiedBy>DAMO-699-3 Capstone Team</cp:lastModifiedBy>
  <cp:revision>1</cp:revision>
  <dcterms:created xsi:type="dcterms:W3CDTF">2026-05-04T22:13:00Z</dcterms:created>
  <dcterms:modified xsi:type="dcterms:W3CDTF">2026-05-04T22:13:00Z</dcterms:modified>
</cp:coreProperties>
</file>